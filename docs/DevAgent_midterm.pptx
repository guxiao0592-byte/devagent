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2"/>
  </p:normalViewPr>
  <p:slideViewPr>
    <p:cSldViewPr snapToGrid="0" snapToObjects="1">
      <p:cViewPr>
        <p:scale>
          <a:sx n="114" d="100"/>
          <a:sy n="114" d="100"/>
        </p:scale>
        <p:origin x="4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90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00000"/>
            <a:ext cx="12192000" cy="5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0000"/>
            <a:ext cx="12192000" cy="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0000" y="12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/>
              </a:defRPr>
            </a:pPr>
            <a:r>
              <a:t>DevAgent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9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D5E8"/>
                </a:solidFill>
                <a:latin typeface="微软雅黑"/>
              </a:defRPr>
            </a:pPr>
            <a:r>
              <a:t>统一软件工程智能体平台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000" y="2550000"/>
            <a:ext cx="2600000" cy="3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0000" y="275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微软雅黑"/>
              </a:defRPr>
            </a:pPr>
            <a:r>
              <a:t>中期进展汇报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44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软件工程 · 2026年6月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48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v3.3 | ~25,000 行 | 69 文件 | 7 Pipeline 阶段 | 5 共享 Prompt 段 | 288 测试通过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42" y="375770"/>
            <a:ext cx="768077" cy="621846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5770"/>
            <a:ext cx="9000000" cy="571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汇报提纲</a:t>
            </a:r>
          </a:p>
        </p:txBody>
      </p:sp>
      <p:sp>
        <p:nvSpPr>
          <p:cNvPr id="6" name="Oval 5"/>
          <p:cNvSpPr/>
          <p:nvPr/>
        </p:nvSpPr>
        <p:spPr>
          <a:xfrm>
            <a:off x="500000" y="1350000"/>
            <a:ext cx="550000" cy="550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0000" y="1370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01  项目背景与目标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0000" y="1620000"/>
            <a:ext cx="9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行业痛点 → DevAgent 定位</a:t>
            </a:r>
          </a:p>
        </p:txBody>
      </p:sp>
      <p:sp>
        <p:nvSpPr>
          <p:cNvPr id="9" name="Rectangle 8"/>
          <p:cNvSpPr/>
          <p:nvPr/>
        </p:nvSpPr>
        <p:spPr>
          <a:xfrm>
            <a:off x="770000" y="1910000"/>
            <a:ext cx="25000" cy="19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0000" y="2100000"/>
            <a:ext cx="550000" cy="550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0000" y="2120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02  系统总体架构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0000" y="2370000"/>
            <a:ext cx="9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六层架构 + 双模执行引擎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0000" y="2660000"/>
            <a:ext cx="25000" cy="19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00000" y="2850000"/>
            <a:ext cx="550000" cy="550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0000" y="2870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03  Pipeline 七阶段流水线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0000" y="3120000"/>
            <a:ext cx="9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需求→设计→代码→测试→修复→交付→交互修改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000" y="3410000"/>
            <a:ext cx="25000" cy="19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0000" y="3600000"/>
            <a:ext cx="550000" cy="550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0000" y="3620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04  实时交互审核与修改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0000" y="3870000"/>
            <a:ext cx="9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三通道审核 + 交互修改循环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0000" y="4160000"/>
            <a:ext cx="25000" cy="19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00000" y="4350000"/>
            <a:ext cx="550000" cy="550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0000" y="4370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05  工程质量提升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0000" y="4620000"/>
            <a:ext cx="9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Prompt 工程 + IEEE 报告标准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0000" y="4910000"/>
            <a:ext cx="25000" cy="19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0000" y="5100000"/>
            <a:ext cx="550000" cy="550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0000" y="5120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06  当前进展与演示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0000" y="5370000"/>
            <a:ext cx="9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量化指标 + 现场演示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0000" y="5660000"/>
            <a:ext cx="25000" cy="19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0000" y="5850000"/>
            <a:ext cx="550000" cy="55000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0000" y="5870000"/>
            <a:ext cx="9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07  后续计划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0000" y="6120000"/>
            <a:ext cx="9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短期/中期/长期路线图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42" y="375770"/>
            <a:ext cx="768077" cy="621846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5770"/>
            <a:ext cx="9000000" cy="571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/>
              </a:defRPr>
            </a:pPr>
            <a:r>
              <a:t>▎行业痛点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800000"/>
            <a:ext cx="5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传统开发流程繁琐，需求→设计→编码→测试周期长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开发者大量时间花在重复性工作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现有 AI 编程助手仅提供代码补全，缺乏端到端自动化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缺乏有效的人机协同机制，AI 产出难以审核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• LLM 生成代码质量不稳定，幻觉问题严重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0000" y="135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微软雅黑"/>
              </a:defRPr>
            </a:pPr>
            <a:r>
              <a:t>▎DevAgent 解决方案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0" y="1800000"/>
            <a:ext cx="5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✓ 统一的 LLM 驱动多 Agent 协同平台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✓ 需求→设计→编码→测试→修复→交付→交互修改 全流程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✓ 实时人机交互审核（WS/CLI/REST 三通道）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✓ 双模引擎: Plan-Execute-Gate + ReAct</a:t>
            </a:r>
          </a:p>
          <a:p>
            <a:pPr>
              <a:spcAft>
                <a:spcPts val="50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✓ 30种工具 + 8个Agent + 7阶段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000" y="460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000" y="4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C6E"/>
                </a:solidFill>
                <a:latin typeface="微软雅黑"/>
              </a:defRPr>
            </a:pPr>
            <a:r>
              <a:t>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50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源文件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0000" y="460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0000" y="4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B579A"/>
                </a:solidFill>
                <a:latin typeface="微软雅黑"/>
              </a:defRPr>
            </a:pPr>
            <a:r>
              <a:t>~25K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0000" y="50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代码行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0000" y="460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50000" y="4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微软雅黑"/>
              </a:defRPr>
            </a:pPr>
            <a:r>
              <a:t>288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0000" y="50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测试通过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0000" y="460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50000" y="4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7ED8"/>
                </a:solidFill>
                <a:latin typeface="微软雅黑"/>
              </a:defRPr>
            </a:pPr>
            <a: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0000" y="50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专业工具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0000" y="460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50000" y="4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6A17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0000" y="50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Pipeline阶段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590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LLM 驱动 · 双模引擎 · 实时协同 · 工程级交付 · 可审计追溯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42" y="375770"/>
            <a:ext cx="768077" cy="621846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5770"/>
            <a:ext cx="9000000" cy="571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系统总体架构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" y="13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3C6E"/>
                </a:solidFill>
                <a:latin typeface="微软雅黑"/>
              </a:defRPr>
            </a:pPr>
            <a:r>
              <a:t>入口层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1700000"/>
            <a:ext cx="25000" cy="4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550000" y="1300000"/>
            <a:ext cx="3466666" cy="6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CLI 终端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6666" y="1300000"/>
            <a:ext cx="3466666" cy="6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3332" y="1300000"/>
            <a:ext cx="3466666" cy="6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VSCode 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" y="22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B579A"/>
                </a:solidFill>
                <a:latin typeface="微软雅黑"/>
              </a:defRPr>
            </a:pPr>
            <a:r>
              <a:t>路由层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000" y="2550000"/>
            <a:ext cx="25000" cy="450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50000" y="2150000"/>
            <a:ext cx="10800000" cy="6500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模式路由: Pipeline Mode / ReAct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000" y="30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3D7ED8"/>
                </a:solidFill>
                <a:latin typeface="微软雅黑"/>
              </a:defRPr>
            </a:pPr>
            <a:r>
              <a:t>执行引擎层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00000"/>
            <a:ext cx="25000" cy="450000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550000" y="3000000"/>
            <a:ext cx="5300000" cy="650000"/>
          </a:xfrm>
          <a:prstGeom prst="round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PipelineRunner (Plan-Execute-Gate)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0000" y="3000000"/>
            <a:ext cx="5300000" cy="650000"/>
          </a:xfrm>
          <a:prstGeom prst="round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DevAgentCore (ReAct Loop)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000" y="39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5B9BD5"/>
                </a:solidFill>
                <a:latin typeface="微软雅黑"/>
              </a:defRPr>
            </a:pPr>
            <a:r>
              <a:t>工具层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000" y="4250000"/>
            <a:ext cx="25000" cy="45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550000" y="3850000"/>
            <a:ext cx="2550000" cy="6500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8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0000" y="3850000"/>
            <a:ext cx="2550000" cy="6500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14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0000" y="3850000"/>
            <a:ext cx="2550000" cy="6500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5 GitHub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00000" y="3850000"/>
            <a:ext cx="2550000" cy="6500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3 交互审核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000" y="475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7FB3E0"/>
                </a:solidFill>
                <a:latin typeface="微软雅黑"/>
              </a:defRPr>
            </a:pPr>
            <a:r>
              <a:t>交互控制层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100000"/>
            <a:ext cx="25000" cy="450000"/>
          </a:xfrm>
          <a:prstGeom prst="rect">
            <a:avLst/>
          </a:prstGeom>
          <a:solidFill>
            <a:srgbClr val="7FB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550000" y="4700000"/>
            <a:ext cx="2550000" cy="650000"/>
          </a:xfrm>
          <a:prstGeom prst="roundRect">
            <a:avLst/>
          </a:prstGeom>
          <a:solidFill>
            <a:srgbClr val="7FB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ThreadChannel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0000" y="4700000"/>
            <a:ext cx="2550000" cy="650000"/>
          </a:xfrm>
          <a:prstGeom prst="roundRect">
            <a:avLst/>
          </a:prstGeom>
          <a:solidFill>
            <a:srgbClr val="7FB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SessionManager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50000" y="4700000"/>
            <a:ext cx="2550000" cy="650000"/>
          </a:xfrm>
          <a:prstGeom prst="roundRect">
            <a:avLst/>
          </a:prstGeom>
          <a:solidFill>
            <a:srgbClr val="7FB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PhaseReviewGate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0000" y="4700000"/>
            <a:ext cx="2550000" cy="650000"/>
          </a:xfrm>
          <a:prstGeom prst="roundRect">
            <a:avLst/>
          </a:prstGeom>
          <a:solidFill>
            <a:srgbClr val="7FB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InteractionController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0000" y="5600000"/>
            <a:ext cx="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A5CCEB"/>
                </a:solidFill>
                <a:latin typeface="微软雅黑"/>
              </a:defRPr>
            </a:pPr>
            <a:r>
              <a:t>增强模块层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50000" y="5550000"/>
            <a:ext cx="2550000" cy="650000"/>
          </a:xfrm>
          <a:prstGeom prst="roundRect">
            <a:avLst/>
          </a:prstGeom>
          <a:solidFill>
            <a:srgbClr val="A5C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ContextManager(4层)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0000" y="5550000"/>
            <a:ext cx="2550000" cy="650000"/>
          </a:xfrm>
          <a:prstGeom prst="roundRect">
            <a:avLst/>
          </a:prstGeom>
          <a:solidFill>
            <a:srgbClr val="A5C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FaultLocator(3层)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0000" y="5550000"/>
            <a:ext cx="2550000" cy="650000"/>
          </a:xfrm>
          <a:prstGeom prst="roundRect">
            <a:avLst/>
          </a:prstGeom>
          <a:solidFill>
            <a:srgbClr val="A5C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ArtifactRegistry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00000" y="5550000"/>
            <a:ext cx="2550000" cy="650000"/>
          </a:xfrm>
          <a:prstGeom prst="roundRect">
            <a:avLst/>
          </a:prstGeom>
          <a:solidFill>
            <a:srgbClr val="A5C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Prompt共享段×5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42" y="375770"/>
            <a:ext cx="768077" cy="621846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5770"/>
            <a:ext cx="9000000" cy="571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Pipeline 七阶段流水线 (v3.3)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000" y="1300000"/>
            <a:ext cx="1520000" cy="70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  <a:br/>
            <a:r>
              <a:t>需求分析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00" y="2050000"/>
            <a:ext cx="15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analyze_requirements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60000" y="1520000"/>
            <a:ext cx="9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80000" y="1300000"/>
            <a:ext cx="1520000" cy="7000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  <a:br/>
            <a:r>
              <a:t>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0000" y="2050000"/>
            <a:ext cx="15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design_architecture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40000" y="1520000"/>
            <a:ext cx="9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60000" y="1300000"/>
            <a:ext cx="1520000" cy="700000"/>
          </a:xfrm>
          <a:prstGeom prst="round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  <a:br/>
            <a:r>
              <a:t>代码生成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000" y="2050000"/>
            <a:ext cx="15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generate_code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20000" y="1520000"/>
            <a:ext cx="9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40000" y="1300000"/>
            <a:ext cx="1520000" cy="7000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  <a:br/>
            <a:r>
              <a:t>测试执行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0000" y="2050000"/>
            <a:ext cx="15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generate_tests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00000" y="1520000"/>
            <a:ext cx="9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20000" y="1300000"/>
            <a:ext cx="1520000" cy="70000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  <a:br/>
            <a:r>
              <a:t>Bug修复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0000" y="2050000"/>
            <a:ext cx="15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repair_code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0000" y="2250000"/>
            <a:ext cx="15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6A17"/>
                </a:solidFill>
                <a:latin typeface="微软雅黑"/>
              </a:defRPr>
            </a:pPr>
            <a:r>
              <a:t>⚡条件触发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80000" y="1520000"/>
            <a:ext cx="9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00000" y="1300000"/>
            <a:ext cx="1520000" cy="700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  <a:br/>
            <a:r>
              <a:t>最终交付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0000" y="2050000"/>
            <a:ext cx="15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generate_report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160000" y="1520000"/>
            <a:ext cx="9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280000" y="1300000"/>
            <a:ext cx="1520000" cy="7000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7</a:t>
            </a:r>
            <a:br/>
            <a:r>
              <a:t>交互修改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0000" y="2050000"/>
            <a:ext cx="15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agentic revision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0000" y="2250000"/>
            <a:ext cx="15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86A17"/>
                </a:solidFill>
                <a:latin typeface="微软雅黑"/>
              </a:defRPr>
            </a:pPr>
            <a:r>
              <a:t>⚡条件触发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000" y="270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▎每阶段执行流程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000" y="3050000"/>
            <a:ext cx="5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1. 执行工具 (LLM生成内容 + revise反馈注入)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2. 文件存在验证 → 检查产物是否生成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3. 确定性验证 (syntax + lint + pytest)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4. 人工审核 (WS/CLI/REST → approve/revise/reject)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0000" y="27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▎条件触发机制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000" y="3050000"/>
            <a:ext cx="5600000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Phase 5 (</a:t>
            </a:r>
            <a:r>
              <a:rPr dirty="0" err="1"/>
              <a:t>修复</a:t>
            </a:r>
            <a:r>
              <a:rPr dirty="0"/>
              <a:t>): </a:t>
            </a:r>
            <a:r>
              <a:rPr dirty="0" err="1"/>
              <a:t>测试</a:t>
            </a:r>
            <a:r>
              <a:rPr dirty="0"/>
              <a:t> failed&gt;0 </a:t>
            </a:r>
            <a:r>
              <a:rPr dirty="0" err="1"/>
              <a:t>时触发</a:t>
            </a:r>
            <a:r>
              <a:rPr dirty="0"/>
              <a:t> → </a:t>
            </a:r>
            <a:r>
              <a:rPr dirty="0" err="1"/>
              <a:t>修复后回</a:t>
            </a:r>
            <a:r>
              <a:rPr dirty="0"/>
              <a:t> Phase 4 </a:t>
            </a:r>
            <a:r>
              <a:rPr dirty="0" err="1"/>
              <a:t>重新验证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Phase 7 (</a:t>
            </a:r>
            <a:r>
              <a:rPr dirty="0" err="1"/>
              <a:t>交互修改</a:t>
            </a:r>
            <a:r>
              <a:rPr dirty="0"/>
              <a:t>): </a:t>
            </a:r>
            <a:r>
              <a:rPr dirty="0" err="1"/>
              <a:t>WS客户端连接时触发</a:t>
            </a:r>
            <a:r>
              <a:rPr dirty="0"/>
              <a:t> → </a:t>
            </a:r>
            <a:r>
              <a:rPr dirty="0" err="1"/>
              <a:t>用户无限轮修改</a:t>
            </a:r>
            <a:r>
              <a:rPr dirty="0"/>
              <a:t> (上限100轮)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• </a:t>
            </a:r>
            <a:r>
              <a:rPr dirty="0" err="1"/>
              <a:t>Revise机制</a:t>
            </a:r>
            <a:r>
              <a:rPr dirty="0"/>
              <a:t>: </a:t>
            </a:r>
            <a:r>
              <a:rPr dirty="0" err="1"/>
              <a:t>人工反馈注入工具参数</a:t>
            </a:r>
            <a:r>
              <a:rPr dirty="0"/>
              <a:t> → </a:t>
            </a:r>
            <a:r>
              <a:rPr dirty="0" err="1"/>
              <a:t>重新执行</a:t>
            </a:r>
            <a:r>
              <a:rPr dirty="0"/>
              <a:t> → </a:t>
            </a:r>
            <a:r>
              <a:rPr dirty="0" err="1"/>
              <a:t>重新审核</a:t>
            </a:r>
            <a:r>
              <a:rPr dirty="0"/>
              <a:t> (max 2次)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42" y="375770"/>
            <a:ext cx="768077" cy="621846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5770"/>
            <a:ext cx="9000000" cy="571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实时交互审核与修改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000" y="1350000"/>
            <a:ext cx="1750000" cy="75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Agent完成</a:t>
            </a:r>
            <a:br/>
            <a:r>
              <a:t>阶段工作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00000" y="1600000"/>
            <a:ext cx="12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150000" y="1350000"/>
            <a:ext cx="1750000" cy="7500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调用</a:t>
            </a:r>
            <a:br/>
            <a:r>
              <a:t>request_review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50000" y="1600000"/>
            <a:ext cx="12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00000" y="1350000"/>
            <a:ext cx="1750000" cy="750000"/>
          </a:xfrm>
          <a:prstGeom prst="round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文件存在</a:t>
            </a:r>
            <a:br/>
            <a:r>
              <a:t>验证检查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00000" y="1600000"/>
            <a:ext cx="12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50000" y="1350000"/>
            <a:ext cx="1750000" cy="7500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推送审核</a:t>
            </a:r>
            <a:br/>
            <a:r>
              <a:t>到客户端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50000" y="1600000"/>
            <a:ext cx="12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00000" y="1350000"/>
            <a:ext cx="1750000" cy="75000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人工选择</a:t>
            </a:r>
            <a:br/>
            <a:r>
              <a:t>批准/修改/拒绝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00000" y="1600000"/>
            <a:ext cx="120000" cy="250000"/>
          </a:xfrm>
          <a:prstGeom prst="rightArrow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950000" y="1350000"/>
            <a:ext cx="1750000" cy="7500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Agent继续</a:t>
            </a:r>
            <a:br/>
            <a:r>
              <a:t>下一阶段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000" y="23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▎通道回退策略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000" y="2750000"/>
            <a:ext cx="55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优先: WebSocket 实时弹窗 (VSCode/Web)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备选: CLI 终端交互 (命令行输入)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备选: REST API 轮询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兜底: 超时自动批准 (15s)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0000" y="23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A17"/>
                </a:solidFill>
                <a:latin typeface="微软雅黑"/>
              </a:defRPr>
            </a:pPr>
            <a:r>
              <a:t>▎交互修改 (v3.3 新增)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0000" y="2750000"/>
            <a:ext cx="56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Pipeline 完成后自动进入交互修改阶段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用户输入任意修改意见 → DevAgent 自动执行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修改 → 测试 → 提交 → 等待下一轮反馈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输入 done/完成/approve → 结束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无限轮修改 (30min/轮, 上限100轮)</a:t>
            </a:r>
          </a:p>
          <a:p>
            <a:pPr>
              <a:spcAft>
                <a:spcPts val="5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11个完成信号: done/完成/ok/approve/好的...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000" y="41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▎六种稳定性保障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000" y="4500000"/>
            <a:ext cx="1780000" cy="11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0000" y="4550000"/>
            <a:ext cx="16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顺序锁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000" y="4850000"/>
            <a:ext cx="16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禁止已批准阶段</a:t>
            </a:r>
            <a:br/>
            <a:r>
              <a:t>重复审核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00000" y="4500000"/>
            <a:ext cx="1780000" cy="11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50000" y="4550000"/>
            <a:ext cx="16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速率限制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0000" y="4850000"/>
            <a:ext cx="16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全局≥3次</a:t>
            </a:r>
            <a:br/>
            <a:r>
              <a:t>强制submit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50000" y="4500000"/>
            <a:ext cx="1780000" cy="11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0000" y="4550000"/>
            <a:ext cx="16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修订上限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0000" y="4850000"/>
            <a:ext cx="16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同阶段≥3次</a:t>
            </a:r>
            <a:br/>
            <a:r>
              <a:t>自动批准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00000" y="4500000"/>
            <a:ext cx="1780000" cy="11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50000" y="4550000"/>
            <a:ext cx="16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强制工具注入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0000" y="4850000"/>
            <a:ext cx="16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审核后100%执行</a:t>
            </a:r>
            <a:br/>
            <a:r>
              <a:t>指定工具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0000" y="4500000"/>
            <a:ext cx="1780000" cy="11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00000" y="4550000"/>
            <a:ext cx="16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文件验证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0000" y="4850000"/>
            <a:ext cx="16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确保有真实产出</a:t>
            </a:r>
            <a:br/>
            <a:r>
              <a:t>才提交审核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00000" y="4500000"/>
            <a:ext cx="1780000" cy="11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0000" y="4550000"/>
            <a:ext cx="168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分级超时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0000" y="4850000"/>
            <a:ext cx="168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req:600s design:480s</a:t>
            </a:r>
            <a:br/>
            <a:r>
              <a:t>code:480s test:600s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42" y="375770"/>
            <a:ext cx="768077" cy="621846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5770"/>
            <a:ext cx="9000000" cy="571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工程质量提升 (v3.3)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1350000"/>
            <a:ext cx="5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rPr dirty="0"/>
              <a:t>▎5个共享 Prompt </a:t>
            </a:r>
            <a:r>
              <a:rPr dirty="0" err="1"/>
              <a:t>段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50000" y="1750000"/>
            <a:ext cx="5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🔒 SECURITY_STANDARDS_BLOCK — OWASP Top 10、注入防护、密钥管理、14条禁止模式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📊 OBSERVABILITY_BLOCK — 结构化日志、/health端点、Prometheus指标、链路追踪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🔗 CITATION_REQUIREMENTS — FR/NFR编号引证、追溯矩阵RTM、文档控制表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⚠️ ANTI_PATTERN_BLOCK — God Class、Long Method、Magic Numbers等20种反模式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✅ MEASURABLE_QUALITY — 代码/测试/设计/需求 自动化验证清单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0" y="135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▎Agent Prompt 增强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0" y="1750000"/>
            <a:ext cx="56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CODE_PROMPT: +S1-S10安全规则 +O1-O5可观测性 +SOLID +设计模式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DESIGN_PROMPT: +DFD L0/1 +状态机图 +部署图 +ADR +STRIDE威胁模型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REQUIREMENT_PROMPT: +安全NFR(OWASP对齐) +可观测性NFR +术语表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TEST_PROMPT: +安全测试 +需求引证[FR-XX] +基于需求的测试生成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ReviewAgent: +文档控制表 +Executive Dashboard(20指标) +RTM追溯矩阵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420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rPr dirty="0"/>
              <a:t>▎IEEE </a:t>
            </a:r>
            <a:r>
              <a:rPr dirty="0" err="1"/>
              <a:t>标准报告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250000" y="4600000"/>
            <a:ext cx="3750000" cy="5500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需求文档 (IEEE 830)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000" y="5200000"/>
            <a:ext cx="36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文档控制表 + 修订历史</a:t>
            </a:r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术语表 (Glossary)</a:t>
            </a:r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- 5遍分析: 领域→FR→NFR→用例→风险</a:t>
            </a:r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安全+可观测性NFR</a:t>
            </a:r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结构化JSON + Markdown双格式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0000" y="4600000"/>
            <a:ext cx="3750000" cy="5500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设计文档 (IEEE 1016)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0000" y="5200000"/>
            <a:ext cx="36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▸ - </a:t>
            </a:r>
            <a:r>
              <a:rPr dirty="0" err="1"/>
              <a:t>文档控制</a:t>
            </a:r>
            <a:r>
              <a:rPr dirty="0"/>
              <a:t> + </a:t>
            </a:r>
            <a:r>
              <a:rPr dirty="0" err="1"/>
              <a:t>ADR记录</a:t>
            </a:r>
            <a:endParaRPr dirty="0"/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▸ - 5视图: </a:t>
            </a:r>
            <a:r>
              <a:rPr dirty="0" err="1"/>
              <a:t>逻辑</a:t>
            </a:r>
            <a:r>
              <a:rPr dirty="0"/>
              <a:t>/</a:t>
            </a:r>
            <a:r>
              <a:rPr dirty="0" err="1"/>
              <a:t>过程</a:t>
            </a:r>
            <a:r>
              <a:rPr dirty="0"/>
              <a:t>/</a:t>
            </a:r>
            <a:r>
              <a:rPr dirty="0" err="1"/>
              <a:t>开发</a:t>
            </a:r>
            <a:r>
              <a:rPr dirty="0"/>
              <a:t>/</a:t>
            </a:r>
            <a:r>
              <a:rPr dirty="0" err="1"/>
              <a:t>物理</a:t>
            </a:r>
            <a:r>
              <a:rPr dirty="0"/>
              <a:t>/</a:t>
            </a:r>
            <a:r>
              <a:rPr dirty="0" err="1"/>
              <a:t>数据</a:t>
            </a:r>
            <a:endParaRPr dirty="0"/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▸ - DFD Level0+1数据流图</a:t>
            </a:r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▸ - </a:t>
            </a:r>
            <a:r>
              <a:rPr dirty="0" err="1"/>
              <a:t>STRIDE威胁模型</a:t>
            </a:r>
            <a:endParaRPr dirty="0"/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rPr dirty="0"/>
              <a:t>▸ - </a:t>
            </a:r>
            <a:r>
              <a:rPr dirty="0" err="1"/>
              <a:t>部署拓扑图</a:t>
            </a:r>
            <a:r>
              <a:rPr dirty="0"/>
              <a:t> + </a:t>
            </a:r>
            <a:r>
              <a:rPr dirty="0" err="1"/>
              <a:t>状态机图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150000" y="4600000"/>
            <a:ext cx="3750000" cy="5500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执行报告 (Executive)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0000" y="5200000"/>
            <a:ext cx="36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Executive Dashboard (20+指标)</a:t>
            </a:r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质量门状态一览表</a:t>
            </a:r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需求追溯矩阵 (RTM)</a:t>
            </a:r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阶段详细评审 (6阶段)</a:t>
            </a:r>
          </a:p>
          <a:p>
            <a:pPr>
              <a:spcAft>
                <a:spcPts val="5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▸ - 执行时间线 + 错误/建议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42" y="375770"/>
            <a:ext cx="768077" cy="621846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5770"/>
            <a:ext cx="9000000" cy="571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当前进展量化指标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125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0000" y="13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3C6E"/>
                </a:solidFill>
                <a:latin typeface="微软雅黑"/>
              </a:defRPr>
            </a:pPr>
            <a: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" y="1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源文件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0000" y="125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50000" y="13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B579A"/>
                </a:solidFill>
                <a:latin typeface="微软雅黑"/>
              </a:defRPr>
            </a:pPr>
            <a:r>
              <a:t>~25K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0000" y="1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代码总行数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0000" y="125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50000" y="13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7AE60"/>
                </a:solidFill>
                <a:latin typeface="微软雅黑"/>
              </a:defRPr>
            </a:pPr>
            <a:r>
              <a:t>288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0000" y="1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测试(全部通过)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0000" y="125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50000" y="13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7ED8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000" y="1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Pipeline阶段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0000" y="1250000"/>
            <a:ext cx="2100000" cy="10500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50000" y="130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86A17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0000" y="1650000"/>
            <a:ext cx="2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共享Prompt段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000" y="2500000"/>
            <a:ext cx="11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▎已完成功能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000" y="29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双模执行引擎 (Plan-Execute-Gate + ReAct)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000" y="34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7阶段自适应Pipeline (含条件修复+交互修改)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9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30种专业工具 (8 Pipeline + 14 Code + 5 GitHub + 3 Interactive)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000" y="44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8个专业Agent (Planner→Review)，含自反射机制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000" y="49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实时交互审核 (WebSocket/CLI/REST 三通道 + 回退策略)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000" y="54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交互修改 (Post-Delivery Revision) — v3.3新增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0000" y="29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5个共享Prompt段 (安全/可观测性/引证/反模式/质量清单)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0000" y="34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IEEE 830/1016 标准报告 + Executive Dashboard + RTM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0000" y="39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三层混合故障定位 (SBFL + Static + LLM Fusion)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0000" y="44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确定性验证体系 (syntax + lint + pytest + import)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0000" y="49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Docker容器化 + GitLab CI + VSCode/IntelliJ扩展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0000" y="5450000"/>
            <a:ext cx="58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✅  FastAPI REST + WebSocket V2 API 服务器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42" y="375770"/>
            <a:ext cx="768077" cy="621846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5770"/>
            <a:ext cx="9000000" cy="571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演示方案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1300000"/>
            <a:ext cx="6000000" cy="5000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演示一: 全流程自动化开发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1850000"/>
            <a:ext cx="58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输入: requirements.md (计算器需求)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流程: 需求→设计→代码→测试→修复→交付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展示: outputs/ 各阶段产物 + IEEE报告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耗时: ~60-90s (自动模式)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00000" y="1350000"/>
            <a:ext cx="5200000" cy="4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E86A17"/>
                </a:solidFill>
                <a:latin typeface="微软雅黑"/>
              </a:defRPr>
            </a:pPr>
            <a:r>
              <a:t>💡 端到端自动化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0000" y="3050000"/>
            <a:ext cx="6000000" cy="50000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演示二: 实时交互审核与修改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3600000"/>
            <a:ext cx="58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API服务 + WebSocket连接 + VSCode扩展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阶段审核弹窗: [批准]/[修改]/[拒绝]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Phase 7交互修改: 输入意见→自动修改→验证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输入 done/完成 结束修改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0000" y="3100000"/>
            <a:ext cx="5200000" cy="4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E86A17"/>
                </a:solidFill>
                <a:latin typeface="微软雅黑"/>
              </a:defRPr>
            </a:pPr>
            <a:r>
              <a:t>💡 人机协同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000" y="4800000"/>
            <a:ext cx="6000000" cy="500000"/>
          </a:xfrm>
          <a:prstGeom prst="round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演示三: Bug修复循环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" y="5350000"/>
            <a:ext cx="58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输入含Bug代码 → 测试发现失败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自动进入 Phase 5: debug→repair→retest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展示: patch.diff + debug_analysis + regression</a:t>
            </a:r>
          </a:p>
          <a:p>
            <a:pPr>
              <a:spcAft>
                <a:spcPts val="5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修复后自动回到测试阶段验证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0000" y="4850000"/>
            <a:ext cx="5200000" cy="4000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E86A17"/>
                </a:solidFill>
                <a:latin typeface="微软雅黑"/>
              </a:defRPr>
            </a:pPr>
            <a:r>
              <a:t>💡 自适应修复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00" y="630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74C3C"/>
                </a:solidFill>
                <a:latin typeface="微软雅黑"/>
              </a:defRPr>
            </a:pPr>
            <a:r>
              <a:t>⚠ 演示环境: Python 3.10+ · DeepSeek API · VSCode扩展 · Docker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50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0000"/>
            <a:ext cx="12192000" cy="36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42" y="375770"/>
            <a:ext cx="768077" cy="621846"/>
          </a:xfrm>
          <a:prstGeom prst="rect">
            <a:avLst/>
          </a:prstGeom>
          <a:solidFill>
            <a:srgbClr val="3D7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375770"/>
            <a:ext cx="9000000" cy="5711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13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🎯 定位  基于LLM的统一软件工程智能体平台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167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实现从需求到交付的端到端自动化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240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🏗️ 架构  六层架构 + 双模执行引擎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272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7阶段自适应Pipeline + ReAct自主循环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34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🛠️ 能力  30种工具 + 8个Agent + 5共享Prompt段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377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IEEE标准报告 + DFD/ADR/威胁模型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450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🔍 质量  5种Prompt工程质量标准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" y="482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EDFD/ADR/RTM/STRIDE 工程产物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" y="55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🚀 状态  v3.3 | 69文件 | ~25K行 | 288测试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000" y="587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核心功能完成 · 进入集成测试阶段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000" y="630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感谢各位老师！欢迎提问和实际操作体验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00000"/>
            <a:ext cx="12192000" cy="5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650000"/>
            <a:ext cx="12192000" cy="5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0000" y="1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27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BBDD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000" y="3300000"/>
            <a:ext cx="2600000" cy="3000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0000" y="36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5E8"/>
                </a:solidFill>
                <a:latin typeface="微软雅黑"/>
              </a:defRPr>
            </a:pPr>
            <a:r>
              <a:t>DevAgent — 统一软件工程智能体平台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41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CC"/>
                </a:solidFill>
                <a:latin typeface="微软雅黑"/>
              </a:defRPr>
            </a:pPr>
            <a:r>
              <a:t>v3.3 | ~25K行 | 288测试 | 7阶段 | 5 Prompt段 | 30工具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4600000"/>
            <a:ext cx="1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1231</Words>
  <Application>Microsoft Macintosh PowerPoint</Application>
  <PresentationFormat>宽屏</PresentationFormat>
  <Paragraphs>227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8618885748627</cp:lastModifiedBy>
  <cp:revision>2</cp:revision>
  <dcterms:created xsi:type="dcterms:W3CDTF">2013-01-27T09:14:16Z</dcterms:created>
  <dcterms:modified xsi:type="dcterms:W3CDTF">2026-06-04T02:14:27Z</dcterms:modified>
  <cp:category/>
</cp:coreProperties>
</file>